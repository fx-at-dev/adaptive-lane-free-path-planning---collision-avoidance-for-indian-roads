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hyperlink" Target="https://github.com/FX-at-Dev/Adaptive-Lane-Free-Path-Planning---Collision-Avoidance-for-Indian-Road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914400"/>
            <a:ext cx="8534400" cy="1143000"/>
          </a:xfrm>
        </p:spPr>
        <p:txBody>
          <a:bodyPr/>
          <a:lstStyle/>
          <a:p>
            <a:pPr algn="ctr"/>
            <a:r>
              <a:rPr sz="240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Adaptive Path Planning and Collision Avoidance</a:t>
            </a:r>
          </a:p>
          <a:p>
            <a:pPr algn="ctr"/>
            <a:r>
              <a:rPr sz="240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for Autonomous Vehicles on Unstructured Indian Roads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29184" y="2331720"/>
            <a:ext cx="6035040" cy="4206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46304" indent="-146304"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Problem Statement ID – </a:t>
            </a:r>
            <a:r>
              <a:rPr sz="1900" b="0" i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SIH26037</a:t>
            </a:r>
          </a:p>
          <a:p>
            <a:pPr algn="l" marL="146304" indent="-146304">
              <a:spcAft>
                <a:spcPts val="200"/>
              </a:spcAft>
              <a:buFont typeface="Arial"/>
              <a:buChar char="•"/>
            </a:pPr>
            <a:r>
              <a:rPr sz="1900" b="1" i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Problem Statement Title –</a:t>
            </a:r>
          </a:p>
          <a:p>
            <a:pPr algn="l" marL="146304">
              <a:spcAft>
                <a:spcPts val="1200"/>
              </a:spcAft>
            </a:pPr>
            <a:r>
              <a:rPr sz="1500" b="0" i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Adaptive Path Planning and Collision Avoidance for Autonomous Vehicles on Unstructured Indian Roads</a:t>
            </a:r>
          </a:p>
          <a:p>
            <a:pPr algn="l" marL="146304" indent="-146304"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Theme – </a:t>
            </a:r>
            <a:r>
              <a:rPr sz="1900" b="0" i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Smart Vehicles</a:t>
            </a:r>
          </a:p>
          <a:p>
            <a:pPr algn="l" marL="146304" indent="-146304"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PS Category – </a:t>
            </a:r>
            <a:r>
              <a:rPr sz="1900" b="0" i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Software</a:t>
            </a:r>
          </a:p>
          <a:p>
            <a:pPr algn="l" marL="146304" indent="-146304"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Team ID – </a:t>
            </a:r>
            <a:r>
              <a:rPr sz="1900" b="0" i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162509</a:t>
            </a:r>
          </a:p>
          <a:p>
            <a:pPr algn="l" marL="146304" indent="-146304">
              <a:spcAft>
                <a:spcPts val="0"/>
              </a:spcAft>
              <a:buFont typeface="Arial"/>
              <a:buChar char="•"/>
            </a:pPr>
            <a:r>
              <a:rPr sz="1900" b="1" i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Team Name (Registered on portal) – </a:t>
            </a:r>
            <a:r>
              <a:rPr sz="1900" b="0" i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CraterFinders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8001000" cy="896112"/>
          </a:xfrm>
        </p:spPr>
        <p:txBody>
          <a:bodyPr anchor="ctr"/>
          <a:lstStyle/>
          <a:p>
            <a:pPr eaLnBrk="1" hangingPunct="1" algn="ctr"/>
            <a:r>
              <a:rPr sz="3600" b="1" i="0">
                <a:solidFill>
                  <a:srgbClr val="1565C0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t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7432"/>
            <a:ext cx="1014984" cy="1014984"/>
          </a:xfrm>
          <a:prstGeom prst="rect">
            <a:avLst/>
          </a:prstGeom>
        </p:spPr>
      </p:pic>
      <p:cxnSp>
        <p:nvCxnSpPr>
          <p:cNvPr id="15363" name="Connector 15362"/>
          <p:cNvCxnSpPr/>
          <p:nvPr/>
        </p:nvCxnSpPr>
        <p:spPr>
          <a:xfrm>
            <a:off x="182880" y="1097280"/>
            <a:ext cx="11823192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4" name="TextBox 15363"/>
          <p:cNvSpPr txBox="1"/>
          <p:nvPr/>
        </p:nvSpPr>
        <p:spPr>
          <a:xfrm>
            <a:off x="274320" y="118872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D9541E"/>
                </a:solidFill>
                <a:latin typeface="Calibri"/>
                <a:ea typeface="Calibri"/>
                <a:cs typeface="Calibri"/>
              </a:rPr>
              <a:t>Problem at Hand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274320" y="1627632"/>
            <a:ext cx="3703320" cy="1078992"/>
          </a:xfrm>
          <a:prstGeom prst="rect">
            <a:avLst/>
          </a:prstGeom>
          <a:solidFill>
            <a:srgbClr val="FFF6DA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347472" y="1673352"/>
            <a:ext cx="3566160" cy="9875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No Lanes to Follow: </a:t>
            </a:r>
            <a:r>
              <a:rPr sz="12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Village and peri-urban roads are unmarked, so lane-keeping ADAS and AV stacks lose their reference path.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274320" y="2798064"/>
            <a:ext cx="3703320" cy="1078992"/>
          </a:xfrm>
          <a:prstGeom prst="rect">
            <a:avLst/>
          </a:prstGeom>
          <a:solidFill>
            <a:srgbClr val="FBE4E4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347472" y="2843784"/>
            <a:ext cx="3566160" cy="9875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Mixed, Rule-Free Traffic: </a:t>
            </a:r>
            <a:r>
              <a:rPr sz="12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Autos, cyclists, pedestrians, cattle and pushcarts share one carriageway with no lane discipline.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274320" y="3968496"/>
            <a:ext cx="3703320" cy="1078992"/>
          </a:xfrm>
          <a:prstGeom prst="rect">
            <a:avLst/>
          </a:prstGeom>
          <a:solidFill>
            <a:srgbClr val="E6E8FA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347472" y="4014215"/>
            <a:ext cx="3566160" cy="9875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Unpredictable Intent: </a:t>
            </a:r>
            <a:r>
              <a:rPr sz="12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 rickshaw may brake, drift or cut in. A single predicted path hides that uncertainty from the planner.</a:t>
            </a:r>
          </a:p>
        </p:txBody>
      </p:sp>
      <p:sp>
        <p:nvSpPr>
          <p:cNvPr id="15371" name="Rectangle 15370"/>
          <p:cNvSpPr/>
          <p:nvPr/>
        </p:nvSpPr>
        <p:spPr>
          <a:xfrm>
            <a:off x="274320" y="5138928"/>
            <a:ext cx="3703320" cy="1078992"/>
          </a:xfrm>
          <a:prstGeom prst="rect">
            <a:avLst/>
          </a:prstGeom>
          <a:solidFill>
            <a:srgbClr val="DDF1EF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347472" y="5184648"/>
            <a:ext cx="3566160" cy="9875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High Human Cost: </a:t>
            </a:r>
            <a:r>
              <a:rPr sz="12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India recorded 1,68,491 road deaths in 2022 (MoRTH). Autonomy built for Western roads does not transfer.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4160520" y="1188720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Our Solution</a:t>
            </a:r>
          </a:p>
        </p:txBody>
      </p:sp>
      <p:pic>
        <p:nvPicPr>
          <p:cNvPr id="15374" name="Picture 15373" descr="h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1627632"/>
            <a:ext cx="4069080" cy="1398746"/>
          </a:xfrm>
          <a:prstGeom prst="rect">
            <a:avLst/>
          </a:prstGeom>
        </p:spPr>
      </p:pic>
      <p:sp>
        <p:nvSpPr>
          <p:cNvPr id="15375" name="Rectangle 15374"/>
          <p:cNvSpPr/>
          <p:nvPr/>
        </p:nvSpPr>
        <p:spPr>
          <a:xfrm>
            <a:off x="4160520" y="1627632"/>
            <a:ext cx="4069080" cy="1398746"/>
          </a:xfrm>
          <a:prstGeom prst="rect">
            <a:avLst/>
          </a:prstGeom>
          <a:noFill/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4160520" y="3044666"/>
            <a:ext cx="40690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Closed-loop simulation: in NUDGE mode the ego plans a smooth path past a parked pushcart on an unmarked village road.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4160520" y="3501866"/>
            <a:ext cx="4069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Why We Stand Out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4160520" y="3885914"/>
            <a:ext cx="4069080" cy="2332005"/>
          </a:xfrm>
          <a:prstGeom prst="roundRect">
            <a:avLst>
              <a:gd name="adj" fmla="val 6000"/>
            </a:avLst>
          </a:prstGeom>
          <a:solidFill>
            <a:srgbClr val="FCE3D3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4251960" y="3959066"/>
            <a:ext cx="3913632" cy="218570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Lane-free by design: </a:t>
            </a:r>
            <a:r>
              <a:rPr sz="12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plans inside a drivable corridor and passes on either side, as Indian drivers do.</a:t>
            </a:r>
          </a:p>
          <a:p>
            <a:pPr algn="l" marL="146304" indent="-146304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Working prototype today: </a:t>
            </a:r>
            <a:r>
              <a:rPr sz="12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all 5 required scenarios run end-to-end and complete collision-free, scored against ground truth.</a:t>
            </a:r>
          </a:p>
          <a:p>
            <a:pPr algn="l" marL="146304" indent="-146304">
              <a:spcAft>
                <a:spcPts val="0"/>
              </a:spcAft>
              <a:buFont typeface="Arial"/>
              <a:buChar char="•"/>
            </a:pPr>
            <a:r>
              <a:rPr sz="120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Zero-licence core: </a:t>
            </a:r>
            <a:r>
              <a:rPr sz="12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toolbox-free MATLAB/Octave code that ports directly to Simulink &amp; Stateflow.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8412480" y="118872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Key Features</a:t>
            </a:r>
          </a:p>
        </p:txBody>
      </p:sp>
      <p:sp>
        <p:nvSpPr>
          <p:cNvPr id="15381" name="Rectangle 15380"/>
          <p:cNvSpPr/>
          <p:nvPr/>
        </p:nvSpPr>
        <p:spPr>
          <a:xfrm>
            <a:off x="8412480" y="1627632"/>
            <a:ext cx="3520440" cy="4590288"/>
          </a:xfrm>
          <a:prstGeom prst="rect">
            <a:avLst/>
          </a:prstGeom>
          <a:noFill/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82" name="Picture 15381" descr="MdAltRoute_2E7D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1847088"/>
            <a:ext cx="457200" cy="457200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9070848" y="1737360"/>
            <a:ext cx="27889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Corridor Planning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Frenet lattice over free space, not painted lanes.</a:t>
            </a:r>
          </a:p>
        </p:txBody>
      </p:sp>
      <p:pic>
        <p:nvPicPr>
          <p:cNvPr id="15384" name="Picture 15383" descr="MdSensors_1565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2208" y="2587752"/>
            <a:ext cx="457200" cy="457200"/>
          </a:xfrm>
          <a:prstGeom prst="rect">
            <a:avLst/>
          </a:prstGeom>
        </p:spPr>
      </p:pic>
      <p:sp>
        <p:nvSpPr>
          <p:cNvPr id="15385" name="TextBox 15384"/>
          <p:cNvSpPr txBox="1"/>
          <p:nvPr/>
        </p:nvSpPr>
        <p:spPr>
          <a:xfrm>
            <a:off x="9070848" y="2478024"/>
            <a:ext cx="27889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Multi-Sensor Fusion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Camera + radar + LiDAR into EKF tracks that survive occlusion.</a:t>
            </a:r>
          </a:p>
        </p:txBody>
      </p:sp>
      <p:pic>
        <p:nvPicPr>
          <p:cNvPr id="15386" name="Picture 15385" descr="MdPsychology_D9541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3328416"/>
            <a:ext cx="457200" cy="457200"/>
          </a:xfrm>
          <a:prstGeom prst="rect">
            <a:avLst/>
          </a:prstGeom>
        </p:spPr>
      </p:pic>
      <p:sp>
        <p:nvSpPr>
          <p:cNvPr id="15387" name="TextBox 15386"/>
          <p:cNvSpPr txBox="1"/>
          <p:nvPr/>
        </p:nvSpPr>
        <p:spPr>
          <a:xfrm>
            <a:off x="9070848" y="3218688"/>
            <a:ext cx="27889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541E"/>
                </a:solidFill>
                <a:latin typeface="Calibri"/>
                <a:ea typeface="Calibri"/>
                <a:cs typeface="Calibri"/>
              </a:rPr>
              <a:t>Intent Prediction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Four class-weighted hypotheses per road user.</a:t>
            </a:r>
          </a:p>
        </p:txBody>
      </p:sp>
      <p:pic>
        <p:nvPicPr>
          <p:cNvPr id="15388" name="Picture 15387" descr="MdAccountTree_6A1B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2208" y="4069080"/>
            <a:ext cx="457200" cy="457200"/>
          </a:xfrm>
          <a:prstGeom prst="rect">
            <a:avLst/>
          </a:prstGeom>
        </p:spPr>
      </p:pic>
      <p:sp>
        <p:nvSpPr>
          <p:cNvPr id="15389" name="TextBox 15388"/>
          <p:cNvSpPr txBox="1"/>
          <p:nvPr/>
        </p:nvSpPr>
        <p:spPr>
          <a:xfrm>
            <a:off x="9070848" y="3959352"/>
            <a:ext cx="27889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Calibri"/>
                <a:ea typeface="Calibri"/>
                <a:cs typeface="Calibri"/>
              </a:rPr>
              <a:t>Behaviour FSM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Cruise, Nudge, Yield, Creep and Stop set the planner's limits.</a:t>
            </a:r>
          </a:p>
        </p:txBody>
      </p:sp>
      <p:pic>
        <p:nvPicPr>
          <p:cNvPr id="15390" name="Picture 15389" descr="MdShield_C6282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2208" y="4809744"/>
            <a:ext cx="457200" cy="457200"/>
          </a:xfrm>
          <a:prstGeom prst="rect">
            <a:avLst/>
          </a:prstGeom>
        </p:spPr>
      </p:pic>
      <p:sp>
        <p:nvSpPr>
          <p:cNvPr id="15391" name="TextBox 15390"/>
          <p:cNvSpPr txBox="1"/>
          <p:nvPr/>
        </p:nvSpPr>
        <p:spPr>
          <a:xfrm>
            <a:off x="9070848" y="4700016"/>
            <a:ext cx="27889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Safety First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Risk-dominated cost, 0.45 m margin and emergency braking.</a:t>
            </a:r>
          </a:p>
        </p:txBody>
      </p:sp>
      <p:pic>
        <p:nvPicPr>
          <p:cNvPr id="15392" name="Picture 15391" descr="MdSpeed_00897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2208" y="5550408"/>
            <a:ext cx="457200" cy="457200"/>
          </a:xfrm>
          <a:prstGeom prst="rect">
            <a:avLst/>
          </a:prstGeom>
        </p:spPr>
      </p:pic>
      <p:sp>
        <p:nvSpPr>
          <p:cNvPr id="15393" name="TextBox 15392"/>
          <p:cNvSpPr txBox="1"/>
          <p:nvPr/>
        </p:nvSpPr>
        <p:spPr>
          <a:xfrm>
            <a:off x="9070848" y="5440680"/>
            <a:ext cx="27889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97B"/>
                </a:solidFill>
                <a:latin typeface="Calibri"/>
                <a:ea typeface="Calibri"/>
                <a:cs typeface="Calibri"/>
              </a:rPr>
              <a:t>Real-Time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10 Hz replanning; 51–66 ms mean 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8001000" cy="896112"/>
          </a:xfrm>
        </p:spPr>
        <p:txBody>
          <a:bodyPr anchor="ctr"/>
          <a:lstStyle/>
          <a:p>
            <a:pPr eaLnBrk="1" hangingPunct="1" algn="ctr"/>
            <a:r>
              <a:rPr sz="3600" b="1" i="0">
                <a:solidFill>
                  <a:srgbClr val="1565C0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t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7432"/>
            <a:ext cx="1014984" cy="1014984"/>
          </a:xfrm>
          <a:prstGeom prst="rect">
            <a:avLst/>
          </a:prstGeom>
        </p:spPr>
      </p:pic>
      <p:cxnSp>
        <p:nvCxnSpPr>
          <p:cNvPr id="17411" name="Connector 17410"/>
          <p:cNvCxnSpPr/>
          <p:nvPr/>
        </p:nvCxnSpPr>
        <p:spPr>
          <a:xfrm>
            <a:off x="182880" y="1097280"/>
            <a:ext cx="11823192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274320" y="116128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Closed-Loop Autonomy Pipeline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74320" y="1572768"/>
            <a:ext cx="1783080" cy="1298448"/>
          </a:xfrm>
          <a:prstGeom prst="roundRect">
            <a:avLst>
              <a:gd name="adj" fmla="val 8000"/>
            </a:avLst>
          </a:prstGeom>
          <a:solidFill>
            <a:srgbClr val="E3EEFB"/>
          </a:solidFill>
          <a:ln w="15875">
            <a:solidFill>
              <a:srgbClr val="1565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Oval 17413"/>
          <p:cNvSpPr/>
          <p:nvPr/>
        </p:nvSpPr>
        <p:spPr>
          <a:xfrm>
            <a:off x="356616" y="1655064"/>
            <a:ext cx="402336" cy="402336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MdCameraAl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" y="1735531"/>
            <a:ext cx="241401" cy="241401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804671" y="1636776"/>
            <a:ext cx="121615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Multi-Sensor Sensing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38328" y="2103120"/>
            <a:ext cx="1691639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Camera 60 m, 100°, class label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Radar 90 m + range-rate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LiDAR 40 m, 360°, occlusion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361895" y="1572768"/>
            <a:ext cx="1783080" cy="1298448"/>
          </a:xfrm>
          <a:prstGeom prst="roundRect">
            <a:avLst>
              <a:gd name="adj" fmla="val 8000"/>
            </a:avLst>
          </a:prstGeom>
          <a:solidFill>
            <a:srgbClr val="DDF1EF"/>
          </a:solidFill>
          <a:ln w="15875">
            <a:solidFill>
              <a:srgbClr val="00897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Oval 17418"/>
          <p:cNvSpPr/>
          <p:nvPr/>
        </p:nvSpPr>
        <p:spPr>
          <a:xfrm>
            <a:off x="2444191" y="1655064"/>
            <a:ext cx="402336" cy="402336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0" name="Picture 17419" descr="MdHu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4658" y="1735531"/>
            <a:ext cx="241401" cy="241401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2892247" y="1636776"/>
            <a:ext cx="121615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97B"/>
                </a:solidFill>
                <a:latin typeface="Calibri"/>
                <a:ea typeface="Calibri"/>
                <a:cs typeface="Calibri"/>
              </a:rPr>
              <a:t>Track Fusion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425903" y="2103120"/>
            <a:ext cx="1691639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Hungarian (GNN) association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EKF per track, CTRV model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M-of-N confirm &amp; coast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449470" y="1572768"/>
            <a:ext cx="1783080" cy="1298448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 w="15875">
            <a:solidFill>
              <a:srgbClr val="D954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4531766" y="1655064"/>
            <a:ext cx="402336" cy="402336"/>
          </a:xfrm>
          <a:prstGeom prst="ellipse">
            <a:avLst/>
          </a:prstGeom>
          <a:solidFill>
            <a:srgbClr val="D9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5" name="Picture 17424" descr="MdInsight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2233" y="1735531"/>
            <a:ext cx="241401" cy="241401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4979822" y="1636776"/>
            <a:ext cx="121615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541E"/>
                </a:solidFill>
                <a:latin typeface="Calibri"/>
                <a:ea typeface="Calibri"/>
                <a:cs typeface="Calibri"/>
              </a:rPr>
              <a:t>Intent Prediction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513478" y="2103120"/>
            <a:ext cx="1691639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4 weighted hypotheses/agent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Class-aware: bus ≠ cattle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4 s horizon, growing σ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537045" y="1572768"/>
            <a:ext cx="1783080" cy="1298448"/>
          </a:xfrm>
          <a:prstGeom prst="roundRect">
            <a:avLst>
              <a:gd name="adj" fmla="val 8000"/>
            </a:avLst>
          </a:prstGeom>
          <a:solidFill>
            <a:srgbClr val="FBE4E4"/>
          </a:solidFill>
          <a:ln w="15875">
            <a:solidFill>
              <a:srgbClr val="C628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Oval 17428"/>
          <p:cNvSpPr/>
          <p:nvPr/>
        </p:nvSpPr>
        <p:spPr>
          <a:xfrm>
            <a:off x="6619341" y="1655064"/>
            <a:ext cx="402336" cy="40233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0" name="Picture 17429" descr="MdGridOn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9808" y="1735531"/>
            <a:ext cx="241401" cy="241401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7067397" y="1636776"/>
            <a:ext cx="121615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Conflict Risk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601053" y="2103120"/>
            <a:ext cx="1691639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Swept-disc conflict test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Weighted by hypothesis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Time-discounted, τ = 2 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537045" y="3246120"/>
            <a:ext cx="1783080" cy="1298448"/>
          </a:xfrm>
          <a:prstGeom prst="roundRect">
            <a:avLst>
              <a:gd name="adj" fmla="val 8000"/>
            </a:avLst>
          </a:prstGeom>
          <a:solidFill>
            <a:srgbClr val="E6F2E6"/>
          </a:solidFill>
          <a:ln w="15875">
            <a:solidFill>
              <a:srgbClr val="2E7D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Oval 17433"/>
          <p:cNvSpPr/>
          <p:nvPr/>
        </p:nvSpPr>
        <p:spPr>
          <a:xfrm>
            <a:off x="6619341" y="3328415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5" name="Picture 17434" descr="MdTimelin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9808" y="3408883"/>
            <a:ext cx="241401" cy="241401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7067397" y="3310127"/>
            <a:ext cx="121615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Lattice Planner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601053" y="3776472"/>
            <a:ext cx="1691639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Frenet quintic + quartic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Lateral d(s), not d(t)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~90 candidates per cycle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449470" y="3246120"/>
            <a:ext cx="1783080" cy="1298448"/>
          </a:xfrm>
          <a:prstGeom prst="roundRect">
            <a:avLst>
              <a:gd name="adj" fmla="val 8000"/>
            </a:avLst>
          </a:prstGeom>
          <a:solidFill>
            <a:srgbClr val="F0E7F7"/>
          </a:solidFill>
          <a:ln w="15875">
            <a:solidFill>
              <a:srgbClr val="6A1B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Oval 17438"/>
          <p:cNvSpPr/>
          <p:nvPr/>
        </p:nvSpPr>
        <p:spPr>
          <a:xfrm>
            <a:off x="4531766" y="3328415"/>
            <a:ext cx="402336" cy="402336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0" name="Picture 17439" descr="MdAccountTree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2233" y="3408883"/>
            <a:ext cx="241401" cy="241401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4979822" y="3310127"/>
            <a:ext cx="121615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A1B9A"/>
                </a:solidFill>
                <a:latin typeface="Calibri"/>
                <a:ea typeface="Calibri"/>
                <a:cs typeface="Calibri"/>
              </a:rPr>
              <a:t>Behaviour FSM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513478" y="3776472"/>
            <a:ext cx="1691639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Cruise · Nudge · Yield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Creep · Stop; sets speed cap,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lateral room, risk tolerance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2361895" y="3246120"/>
            <a:ext cx="1783080" cy="1298448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455A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Oval 17443"/>
          <p:cNvSpPr/>
          <p:nvPr/>
        </p:nvSpPr>
        <p:spPr>
          <a:xfrm>
            <a:off x="2444191" y="3328415"/>
            <a:ext cx="402336" cy="402336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5" name="Picture 17444" descr="MdSettingsInputComponent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4658" y="3408883"/>
            <a:ext cx="241401" cy="241401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2892247" y="3310127"/>
            <a:ext cx="121615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55A64"/>
                </a:solidFill>
                <a:latin typeface="Calibri"/>
                <a:ea typeface="Calibri"/>
                <a:cs typeface="Calibri"/>
              </a:rPr>
              <a:t>Motion Control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2425903" y="3776472"/>
            <a:ext cx="1691639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Pure-pursuit steering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PI speed loop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Jerk &amp; steer-rate limits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274320" y="3246120"/>
            <a:ext cx="1783080" cy="1298448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 w="15875">
            <a:solidFill>
              <a:srgbClr val="1F293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Oval 17448"/>
          <p:cNvSpPr/>
          <p:nvPr/>
        </p:nvSpPr>
        <p:spPr>
          <a:xfrm>
            <a:off x="356616" y="3328415"/>
            <a:ext cx="402336" cy="402336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0" name="Picture 17449" descr="MdDirectionsCar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7083" y="3408883"/>
            <a:ext cx="241401" cy="241401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804671" y="3310127"/>
            <a:ext cx="121615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Vehicle Model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338328" y="3776472"/>
            <a:ext cx="1691639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Kinematic bicycle model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2.7 m wheelbase, δ ≤ 31°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20 Hz sim · 10 Hz replan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2075688" y="2221991"/>
            <a:ext cx="267919" cy="0"/>
          </a:xfrm>
          <a:prstGeom prst="line">
            <a:avLst/>
          </a:prstGeom>
          <a:ln w="22225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4" name="Connector 17453"/>
          <p:cNvCxnSpPr/>
          <p:nvPr/>
        </p:nvCxnSpPr>
        <p:spPr>
          <a:xfrm flipH="1">
            <a:off x="6250838" y="3895344"/>
            <a:ext cx="267919" cy="0"/>
          </a:xfrm>
          <a:prstGeom prst="line">
            <a:avLst/>
          </a:prstGeom>
          <a:ln w="22225">
            <a:solidFill>
              <a:srgbClr val="1F293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5" name="Connector 17454"/>
          <p:cNvCxnSpPr/>
          <p:nvPr/>
        </p:nvCxnSpPr>
        <p:spPr>
          <a:xfrm>
            <a:off x="4163263" y="2221991"/>
            <a:ext cx="267919" cy="0"/>
          </a:xfrm>
          <a:prstGeom prst="line">
            <a:avLst/>
          </a:prstGeom>
          <a:ln w="22225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6" name="Connector 17455"/>
          <p:cNvCxnSpPr/>
          <p:nvPr/>
        </p:nvCxnSpPr>
        <p:spPr>
          <a:xfrm flipH="1">
            <a:off x="4163263" y="3895344"/>
            <a:ext cx="267919" cy="0"/>
          </a:xfrm>
          <a:prstGeom prst="line">
            <a:avLst/>
          </a:prstGeom>
          <a:ln w="22225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7" name="Connector 17456"/>
          <p:cNvCxnSpPr/>
          <p:nvPr/>
        </p:nvCxnSpPr>
        <p:spPr>
          <a:xfrm>
            <a:off x="6250838" y="2221991"/>
            <a:ext cx="267919" cy="0"/>
          </a:xfrm>
          <a:prstGeom prst="line">
            <a:avLst/>
          </a:prstGeom>
          <a:ln w="22225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8" name="Connector 17457"/>
          <p:cNvCxnSpPr/>
          <p:nvPr/>
        </p:nvCxnSpPr>
        <p:spPr>
          <a:xfrm flipH="1">
            <a:off x="2075688" y="3895344"/>
            <a:ext cx="267919" cy="0"/>
          </a:xfrm>
          <a:prstGeom prst="line">
            <a:avLst/>
          </a:prstGeom>
          <a:ln w="22225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9" name="Connector 17458"/>
          <p:cNvCxnSpPr/>
          <p:nvPr/>
        </p:nvCxnSpPr>
        <p:spPr>
          <a:xfrm>
            <a:off x="7428585" y="2889503"/>
            <a:ext cx="0" cy="338329"/>
          </a:xfrm>
          <a:prstGeom prst="line">
            <a:avLst/>
          </a:prstGeom>
          <a:ln w="22225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0" name="Connector 17459"/>
          <p:cNvCxnSpPr/>
          <p:nvPr/>
        </p:nvCxnSpPr>
        <p:spPr>
          <a:xfrm flipV="1">
            <a:off x="1165860" y="2889503"/>
            <a:ext cx="0" cy="338329"/>
          </a:xfrm>
          <a:prstGeom prst="line">
            <a:avLst/>
          </a:prstGeom>
          <a:ln w="22225">
            <a:solidFill>
              <a:srgbClr val="C6282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1" name="TextBox 17460"/>
          <p:cNvSpPr txBox="1"/>
          <p:nvPr/>
        </p:nvSpPr>
        <p:spPr>
          <a:xfrm>
            <a:off x="1239012" y="2898647"/>
            <a:ext cx="20116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closed loop: ego state → world → sensors</a:t>
            </a:r>
          </a:p>
        </p:txBody>
      </p:sp>
      <p:pic>
        <p:nvPicPr>
          <p:cNvPr id="17462" name="Picture 17461" descr="rou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320" y="4681728"/>
            <a:ext cx="8046720" cy="1303504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274320" y="6003520"/>
            <a:ext cx="8046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All 5 scenarios complete collision-free. Shown: the 188 m village road, ego path coloured by behaviour.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8549640" y="11612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Technologies Used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8549640" y="1572768"/>
            <a:ext cx="3383280" cy="2331720"/>
          </a:xfrm>
          <a:prstGeom prst="rect">
            <a:avLst/>
          </a:prstGeom>
          <a:noFill/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6" name="Picture 17465" descr="MdCode_1565C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41080" y="1709928"/>
            <a:ext cx="310896" cy="310896"/>
          </a:xfrm>
          <a:prstGeom prst="rect">
            <a:avLst/>
          </a:prstGeom>
        </p:spPr>
      </p:pic>
      <p:sp>
        <p:nvSpPr>
          <p:cNvPr id="17467" name="TextBox 17466"/>
          <p:cNvSpPr txBox="1"/>
          <p:nvPr/>
        </p:nvSpPr>
        <p:spPr>
          <a:xfrm>
            <a:off x="9034272" y="1645920"/>
            <a:ext cx="285292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MATLAB R2025 / GNU Octave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Toolbox-free algorithm core</a:t>
            </a:r>
          </a:p>
        </p:txBody>
      </p:sp>
      <p:pic>
        <p:nvPicPr>
          <p:cNvPr id="17468" name="Picture 17467" descr="MdAccountTree_1565C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41080" y="2157984"/>
            <a:ext cx="310896" cy="310896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9034272" y="2093976"/>
            <a:ext cx="285292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Simulink + Stateflow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Closed-loop model, behaviour chart</a:t>
            </a:r>
          </a:p>
        </p:txBody>
      </p:sp>
      <p:pic>
        <p:nvPicPr>
          <p:cNvPr id="17470" name="Picture 17469" descr="MdMap_1565C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1080" y="2606040"/>
            <a:ext cx="310896" cy="310896"/>
          </a:xfrm>
          <a:prstGeom prst="rect">
            <a:avLst/>
          </a:prstGeom>
        </p:spPr>
      </p:pic>
      <p:sp>
        <p:nvSpPr>
          <p:cNvPr id="17471" name="TextBox 17470"/>
          <p:cNvSpPr txBox="1"/>
          <p:nvPr/>
        </p:nvSpPr>
        <p:spPr>
          <a:xfrm>
            <a:off x="9034272" y="2542032"/>
            <a:ext cx="285292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RoadRunner + ASAM OpenDRIVE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Indian road scenes (.xodr)</a:t>
            </a:r>
          </a:p>
        </p:txBody>
      </p:sp>
      <p:pic>
        <p:nvPicPr>
          <p:cNvPr id="17472" name="Picture 17471" descr="MdVisibility_1565C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41080" y="3054096"/>
            <a:ext cx="310896" cy="310896"/>
          </a:xfrm>
          <a:prstGeom prst="rect">
            <a:avLst/>
          </a:prstGeom>
        </p:spPr>
      </p:pic>
      <p:sp>
        <p:nvSpPr>
          <p:cNvPr id="17473" name="TextBox 17472"/>
          <p:cNvSpPr txBox="1"/>
          <p:nvPr/>
        </p:nvSpPr>
        <p:spPr>
          <a:xfrm>
            <a:off x="9034272" y="2990088"/>
            <a:ext cx="285292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YOLO on IDD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Indian road-user detection demo</a:t>
            </a:r>
          </a:p>
        </p:txBody>
      </p:sp>
      <p:pic>
        <p:nvPicPr>
          <p:cNvPr id="17474" name="Picture 17473" descr="MdMovie_1565C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41080" y="3502152"/>
            <a:ext cx="310896" cy="310896"/>
          </a:xfrm>
          <a:prstGeom prst="rect">
            <a:avLst/>
          </a:prstGeom>
        </p:spPr>
      </p:pic>
      <p:sp>
        <p:nvSpPr>
          <p:cNvPr id="17475" name="TextBox 17474"/>
          <p:cNvSpPr txBox="1"/>
          <p:nvPr/>
        </p:nvSpPr>
        <p:spPr>
          <a:xfrm>
            <a:off x="9034272" y="3438144"/>
            <a:ext cx="2852928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Python · Matplotlib · FFmpeg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Replays and metrics figures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8549640" y="3977639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Implementation Roadmap</a:t>
            </a:r>
          </a:p>
        </p:txBody>
      </p:sp>
      <p:sp>
        <p:nvSpPr>
          <p:cNvPr id="17477" name="Rectangle 17476"/>
          <p:cNvSpPr/>
          <p:nvPr/>
        </p:nvSpPr>
        <p:spPr>
          <a:xfrm>
            <a:off x="8549640" y="4370832"/>
            <a:ext cx="3383280" cy="1847088"/>
          </a:xfrm>
          <a:prstGeom prst="rect">
            <a:avLst/>
          </a:prstGeom>
          <a:noFill/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8" name="Oval 17477"/>
          <p:cNvSpPr/>
          <p:nvPr/>
        </p:nvSpPr>
        <p:spPr>
          <a:xfrm>
            <a:off x="8641080" y="4498848"/>
            <a:ext cx="246888" cy="2468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TextBox 17478"/>
          <p:cNvSpPr txBox="1"/>
          <p:nvPr/>
        </p:nvSpPr>
        <p:spPr>
          <a:xfrm>
            <a:off x="8641080" y="4498848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8961120" y="4443984"/>
            <a:ext cx="2926080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Core loop + village-road scenario ✔</a:t>
            </a:r>
          </a:p>
        </p:txBody>
      </p:sp>
      <p:sp>
        <p:nvSpPr>
          <p:cNvPr id="17481" name="Oval 17480"/>
          <p:cNvSpPr/>
          <p:nvPr/>
        </p:nvSpPr>
        <p:spPr>
          <a:xfrm>
            <a:off x="8641080" y="4846320"/>
            <a:ext cx="246888" cy="2468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2" name="TextBox 17481"/>
          <p:cNvSpPr txBox="1"/>
          <p:nvPr/>
        </p:nvSpPr>
        <p:spPr>
          <a:xfrm>
            <a:off x="8641080" y="4846320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8961120" y="4791456"/>
            <a:ext cx="2926080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All 5 scenarios + submission video ✔</a:t>
            </a:r>
          </a:p>
        </p:txBody>
      </p:sp>
      <p:sp>
        <p:nvSpPr>
          <p:cNvPr id="17484" name="Oval 17483"/>
          <p:cNvSpPr/>
          <p:nvPr/>
        </p:nvSpPr>
        <p:spPr>
          <a:xfrm>
            <a:off x="8641080" y="5193792"/>
            <a:ext cx="246888" cy="246888"/>
          </a:xfrm>
          <a:prstGeom prst="ellipse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5" name="TextBox 17484"/>
          <p:cNvSpPr txBox="1"/>
          <p:nvPr/>
        </p:nvSpPr>
        <p:spPr>
          <a:xfrm>
            <a:off x="8641080" y="5193792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8961120" y="5138928"/>
            <a:ext cx="2926080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Simulink closed-loop model</a:t>
            </a:r>
          </a:p>
        </p:txBody>
      </p:sp>
      <p:sp>
        <p:nvSpPr>
          <p:cNvPr id="17487" name="Oval 17486"/>
          <p:cNvSpPr/>
          <p:nvPr/>
        </p:nvSpPr>
        <p:spPr>
          <a:xfrm>
            <a:off x="8641080" y="5541264"/>
            <a:ext cx="246888" cy="246888"/>
          </a:xfrm>
          <a:prstGeom prst="ellipse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8" name="TextBox 17487"/>
          <p:cNvSpPr txBox="1"/>
          <p:nvPr/>
        </p:nvSpPr>
        <p:spPr>
          <a:xfrm>
            <a:off x="8641080" y="5541264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8961120" y="5486400"/>
            <a:ext cx="2926080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Metrics &amp; technical report, dashboard</a:t>
            </a:r>
          </a:p>
        </p:txBody>
      </p:sp>
      <p:sp>
        <p:nvSpPr>
          <p:cNvPr id="17490" name="Oval 17489"/>
          <p:cNvSpPr/>
          <p:nvPr/>
        </p:nvSpPr>
        <p:spPr>
          <a:xfrm>
            <a:off x="8641080" y="5888736"/>
            <a:ext cx="246888" cy="246888"/>
          </a:xfrm>
          <a:prstGeom prst="ellipse">
            <a:avLst/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1" name="TextBox 17490"/>
          <p:cNvSpPr txBox="1"/>
          <p:nvPr/>
        </p:nvSpPr>
        <p:spPr>
          <a:xfrm>
            <a:off x="8641080" y="5888736"/>
            <a:ext cx="246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8961120" y="5833872"/>
            <a:ext cx="2926080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Stateflow, RoadRunner scenes, YOLO-IDD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8001000" cy="896112"/>
          </a:xfrm>
        </p:spPr>
        <p:txBody>
          <a:bodyPr anchor="ctr"/>
          <a:lstStyle/>
          <a:p>
            <a:pPr eaLnBrk="1" hangingPunct="1" algn="ctr"/>
            <a:r>
              <a:rPr sz="3600" b="1" i="0">
                <a:solidFill>
                  <a:srgbClr val="1565C0"/>
                </a:solidFill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t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7432"/>
            <a:ext cx="1014984" cy="1014984"/>
          </a:xfrm>
          <a:prstGeom prst="rect">
            <a:avLst/>
          </a:prstGeom>
        </p:spPr>
      </p:pic>
      <p:cxnSp>
        <p:nvCxnSpPr>
          <p:cNvPr id="17411" name="Connector 17410"/>
          <p:cNvCxnSpPr/>
          <p:nvPr/>
        </p:nvCxnSpPr>
        <p:spPr>
          <a:xfrm>
            <a:off x="182880" y="1097280"/>
            <a:ext cx="11823192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274320" y="116128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D9541E"/>
                </a:solidFill>
                <a:latin typeface="Calibri"/>
                <a:ea typeface="Calibri"/>
                <a:cs typeface="Calibri"/>
              </a:rPr>
              <a:t>Technical Feasibility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274320" y="1536192"/>
            <a:ext cx="3520440" cy="2304288"/>
          </a:xfrm>
          <a:prstGeom prst="rect">
            <a:avLst/>
          </a:prstGeom>
          <a:noFill/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347472" y="1572768"/>
            <a:ext cx="3383280" cy="22311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All 5 scenarios run: </a:t>
            </a: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sensing → fusion → prediction → planning → control closes end-to-end.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Tested: </a:t>
            </a: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8/8 tests pass, including the full closed-loop regression run (EKF, Frenet, Hungarian, collision, bicycle model).</a:t>
            </a:r>
          </a:p>
          <a:p>
            <a:pPr algn="l" marL="146304" indent="-146304">
              <a:spcAft>
                <a:spcPts val="400"/>
              </a:spcAft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15× faster planner </a:t>
            </a: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(919 → 61 ms/cycle) from batched candidate checks.</a:t>
            </a:r>
          </a:p>
          <a:p>
            <a:pPr algn="l" marL="146304" indent="-146304">
              <a:spcAft>
                <a:spcPts val="0"/>
              </a:spcAft>
              <a:buFont typeface="Arial"/>
              <a:buChar char="•"/>
            </a:pPr>
            <a:r>
              <a:rPr sz="110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One scenario spec </a:t>
            </a: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feeds Octave, Simulink and drivingScenario, so nothing is authored twice.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977639" y="116128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Measured Results · All 5 Scenarios</a:t>
            </a:r>
          </a:p>
        </p:txBody>
      </p:sp>
      <p:graphicFrame>
        <p:nvGraphicFramePr>
          <p:cNvPr id="17416" name="Table 17415"/>
          <p:cNvGraphicFramePr>
            <a:graphicFrameLocks noGrp="1"/>
          </p:cNvGraphicFramePr>
          <p:nvPr/>
        </p:nvGraphicFramePr>
        <p:xfrm>
          <a:off x="3977639" y="1536192"/>
          <a:ext cx="434340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685800"/>
                <a:gridCol w="566928"/>
                <a:gridCol w="822960"/>
                <a:gridCol w="850392"/>
              </a:tblGrid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Scenario</a:t>
                      </a:r>
                    </a:p>
                  </a:txBody>
                  <a:tcPr marL="54864" marR="54864" marT="18288" marB="18288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Time</a:t>
                      </a:r>
                    </a:p>
                  </a:txBody>
                  <a:tcPr marL="54864" marR="54864" marT="18288" marB="18288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Coll.</a:t>
                      </a:r>
                    </a:p>
                  </a:txBody>
                  <a:tcPr marL="54864" marR="54864" marT="18288" marB="18288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Min clear</a:t>
                      </a:r>
                    </a:p>
                  </a:txBody>
                  <a:tcPr marL="54864" marR="54864" marT="18288" marB="18288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Replan p95</a:t>
                      </a:r>
                    </a:p>
                  </a:txBody>
                  <a:tcPr marL="54864" marR="54864" marT="18288" marB="18288" anchor="ctr">
                    <a:solidFill>
                      <a:srgbClr val="2E7D32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Village road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48.1 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0.46 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92 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Crossroads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43.5 s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3.33 m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107 ms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Highway merge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38.0 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3.89 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86 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Market street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97.1 s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0.13 m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98 ms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Cattle crossing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84.2 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1.47 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98 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7" name="TextBox 17416"/>
          <p:cNvSpPr txBox="1"/>
          <p:nvPr/>
        </p:nvSpPr>
        <p:spPr>
          <a:xfrm>
            <a:off x="3977639" y="3300984"/>
            <a:ext cx="4343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5 of 5 completed · 0 collisions · clearance scored on ground truth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503920" y="116128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Resource Feasibility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8503920" y="1536192"/>
            <a:ext cx="3429000" cy="2304288"/>
          </a:xfrm>
          <a:prstGeom prst="rect">
            <a:avLst/>
          </a:prstGeom>
          <a:noFill/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577072" y="1572768"/>
            <a:ext cx="3291840" cy="22311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Tier 0 · GNU Octave</a:t>
            </a: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– free, unlimited: algorithms, all 5 scenarios, metrics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Tier 1 · MATLAB Online Basic</a:t>
            </a: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– free: Simulink closed-loop model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Tier 2 · 30-day trial</a:t>
            </a: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– used last, only for Stateflow, RoadRunner &amp; YOLO-IDD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Hardware: </a:t>
            </a: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 standard laptop; no GPU needed.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74320" y="3950208"/>
            <a:ext cx="11658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Potential Challenges &amp; Risks → Strategies for Overcoming Them</a:t>
            </a:r>
          </a:p>
        </p:txBody>
      </p:sp>
      <p:graphicFrame>
        <p:nvGraphicFramePr>
          <p:cNvPr id="17422" name="Table 17421"/>
          <p:cNvGraphicFramePr>
            <a:graphicFrameLocks noGrp="1"/>
          </p:cNvGraphicFramePr>
          <p:nvPr/>
        </p:nvGraphicFramePr>
        <p:xfrm>
          <a:off x="274320" y="4315968"/>
          <a:ext cx="11658600" cy="189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4434840"/>
                <a:gridCol w="6812280"/>
              </a:tblGrid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Challenge / Risk</a:t>
                      </a:r>
                    </a:p>
                  </a:txBody>
                  <a:tcPr marL="54864" marR="54864" marT="18288" marB="18288" anchor="ctr">
                    <a:solidFill>
                      <a:srgbClr val="C62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Strategy to Overcome</a:t>
                      </a:r>
                    </a:p>
                  </a:txBody>
                  <a:tcPr marL="54864" marR="54864" marT="18288" marB="18288" anchor="ctr">
                    <a:solidFill>
                      <a:srgbClr val="C62828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Replan latency crosses the 100 ms budget on busy cycles (p95 86–107 ms by scenario)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Batching already cut cost 15×; next, adaptive lattice size and MATLAB Coder C code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Hybrid A* fallback is written and verified, but enabling it made results worse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Kept off: it raised p95 to 250–400 ms and cost a completion; re-enable once search cost and margins are reconciled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Dense market clears by only 0.13 m at its tightest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Most margin-sensitive scenario; tune the safety margin and re-validate all five runs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COCO-trained YOLO mislabels auto-rickshaws and pushcarts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Class-agnostic tracking fallback; fine-tune on the IDD dataset when a GPU is available</a:t>
                      </a:r>
                    </a:p>
                  </a:txBody>
                  <a:tcPr marL="54864" marR="54864" marT="18288" marB="18288" anchor="ctr">
                    <a:solidFill>
                      <a:srgbClr val="F7F7F7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RoadRunner is available only in the one-time 30-day trial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</a:rPr>
                        <a:t>Hand-author OpenDRIVE scenes first, so trial days go to assembly, not development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8001000" cy="896112"/>
          </a:xfrm>
        </p:spPr>
        <p:txBody>
          <a:bodyPr anchor="ctr"/>
          <a:lstStyle/>
          <a:p>
            <a:pPr eaLnBrk="1" hangingPunct="1" algn="ctr"/>
            <a:r>
              <a:rPr sz="3600" b="1" i="0">
                <a:solidFill>
                  <a:srgbClr val="1565C0"/>
                </a:solidFill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t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7432"/>
            <a:ext cx="1014984" cy="1014984"/>
          </a:xfrm>
          <a:prstGeom prst="rect">
            <a:avLst/>
          </a:prstGeom>
        </p:spPr>
      </p:pic>
      <p:cxnSp>
        <p:nvCxnSpPr>
          <p:cNvPr id="17411" name="Connector 17410"/>
          <p:cNvCxnSpPr/>
          <p:nvPr/>
        </p:nvCxnSpPr>
        <p:spPr>
          <a:xfrm>
            <a:off x="182880" y="1097280"/>
            <a:ext cx="11823192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Rounded Rectangle 17411"/>
          <p:cNvSpPr/>
          <p:nvPr/>
        </p:nvSpPr>
        <p:spPr>
          <a:xfrm>
            <a:off x="274320" y="1234440"/>
            <a:ext cx="2743200" cy="1115568"/>
          </a:xfrm>
          <a:prstGeom prst="roundRect">
            <a:avLst>
              <a:gd name="adj" fmla="val 8000"/>
            </a:avLst>
          </a:prstGeom>
          <a:solidFill>
            <a:srgbClr val="FBE4E4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65760" y="1261872"/>
            <a:ext cx="25603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1.68 lakh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84048" y="1810512"/>
            <a:ext cx="25237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road deaths in India in 2022 (MoRTH): the problem we target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46120" y="1234440"/>
            <a:ext cx="2743200" cy="1115568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3337560" y="1261872"/>
            <a:ext cx="25603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D9541E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355848" y="1810512"/>
            <a:ext cx="25237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Indian road scenarios — village, crossroads, merge, market, cattle — all completing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217920" y="1234440"/>
            <a:ext cx="2743200" cy="1115568"/>
          </a:xfrm>
          <a:prstGeom prst="roundRect">
            <a:avLst>
              <a:gd name="adj" fmla="val 8000"/>
            </a:avLst>
          </a:prstGeom>
          <a:solidFill>
            <a:srgbClr val="E6F2E6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6309359" y="1261872"/>
            <a:ext cx="25603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327648" y="1810512"/>
            <a:ext cx="25237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collisions across all 5 scenarios, scored against ground truth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189720" y="1234440"/>
            <a:ext cx="2743200" cy="1115568"/>
          </a:xfrm>
          <a:prstGeom prst="roundRect">
            <a:avLst>
              <a:gd name="adj" fmla="val 8000"/>
            </a:avLst>
          </a:prstGeom>
          <a:solidFill>
            <a:srgbClr val="E3EEFB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9281160" y="1261872"/>
            <a:ext cx="25603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₹0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9299448" y="1810512"/>
            <a:ext cx="25237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licence cost to develop and verify the algorithm core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74320" y="248716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D9541E"/>
                </a:solidFill>
                <a:latin typeface="Calibri"/>
                <a:ea typeface="Calibri"/>
                <a:cs typeface="Calibri"/>
              </a:rPr>
              <a:t>Who Benefits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274320" y="2852928"/>
            <a:ext cx="3931920" cy="3364992"/>
          </a:xfrm>
          <a:prstGeom prst="rect">
            <a:avLst/>
          </a:prstGeom>
          <a:noFill/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6" name="Picture 17425" descr="MdElectricCar_D954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044952"/>
            <a:ext cx="402336" cy="402336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896112" y="2926080"/>
            <a:ext cx="32461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Automotive OEMs &amp; Tier-1s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ADAS/AV behaviour tuned for Indian traffic</a:t>
            </a:r>
          </a:p>
        </p:txBody>
      </p:sp>
      <p:pic>
        <p:nvPicPr>
          <p:cNvPr id="17428" name="Picture 17427" descr="MdLocalShipping_D954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694176"/>
            <a:ext cx="402336" cy="402336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896112" y="3575304"/>
            <a:ext cx="32461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Logistics &amp; Last-Mile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Autonomous delivery pods, campus shuttles</a:t>
            </a:r>
          </a:p>
        </p:txBody>
      </p:sp>
      <p:pic>
        <p:nvPicPr>
          <p:cNvPr id="17430" name="Picture 17429" descr="MdAgriculture_2E7D3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343400"/>
            <a:ext cx="402336" cy="402336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896112" y="4224528"/>
            <a:ext cx="32461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Rural Mobility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Agri-vehicles and buses on unmarked roads</a:t>
            </a:r>
          </a:p>
        </p:txBody>
      </p:sp>
      <p:pic>
        <p:nvPicPr>
          <p:cNvPr id="17432" name="Picture 17431" descr="MdSchool_D9541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4992624"/>
            <a:ext cx="402336" cy="402336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896112" y="4873752"/>
            <a:ext cx="32461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Students &amp; Researchers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Open, toolbox-free baseline and scenarios</a:t>
            </a:r>
          </a:p>
        </p:txBody>
      </p:sp>
      <p:pic>
        <p:nvPicPr>
          <p:cNvPr id="17434" name="Picture 17433" descr="MdFlag_D9541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" y="5641848"/>
            <a:ext cx="402336" cy="402336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896112" y="5522976"/>
            <a:ext cx="32461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Road-Safety &amp; Test Agencies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Repeatable Indian-road test scenarios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434840" y="2487168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Benefits of the Solution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434840" y="2852928"/>
            <a:ext cx="3657599" cy="1591056"/>
          </a:xfrm>
          <a:prstGeom prst="roundRect">
            <a:avLst>
              <a:gd name="adj" fmla="val 6000"/>
            </a:avLst>
          </a:prstGeom>
          <a:solidFill>
            <a:srgbClr val="FBE4E4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8" name="Picture 17437" descr="MdFavorite_C6282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4568" y="2944368"/>
            <a:ext cx="329184" cy="329184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4937759" y="2926080"/>
            <a:ext cx="3063239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Social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544568" y="3328416"/>
            <a:ext cx="3438144" cy="1060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Class-aware caution around pedestrians, cyclists &amp; cattle, the most vulnerable road users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Legible yield/creep behaviour that other road users can anticipate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8275319" y="2852928"/>
            <a:ext cx="3657599" cy="1591056"/>
          </a:xfrm>
          <a:prstGeom prst="roundRect">
            <a:avLst>
              <a:gd name="adj" fmla="val 6000"/>
            </a:avLst>
          </a:prstGeom>
          <a:solidFill>
            <a:srgbClr val="E6F2E6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2" name="Picture 17441" descr="MdCurrencyRupee_2E7D3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5047" y="2944368"/>
            <a:ext cx="329184" cy="329184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8778240" y="2926080"/>
            <a:ext cx="3063239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Economic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8385047" y="3328416"/>
            <a:ext cx="3438144" cy="1060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Free-tier development cuts R&amp;D and licence cost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Reusable scenario library lowers validation cost; indigenous tech for Atmanirbhar Bharat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4434840" y="4626864"/>
            <a:ext cx="3657599" cy="1591056"/>
          </a:xfrm>
          <a:prstGeom prst="roundRect">
            <a:avLst>
              <a:gd name="adj" fmla="val 6000"/>
            </a:avLst>
          </a:prstGeom>
          <a:solidFill>
            <a:srgbClr val="DDF1EF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6" name="Picture 17445" descr="MdEco_00897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4568" y="4718304"/>
            <a:ext cx="329184" cy="329184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4937759" y="4700016"/>
            <a:ext cx="3063239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897B"/>
                </a:solidFill>
                <a:latin typeface="Calibri"/>
                <a:ea typeface="Calibri"/>
                <a:cs typeface="Calibri"/>
              </a:rPr>
              <a:t>Environmental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4544568" y="5102352"/>
            <a:ext cx="3438144" cy="1060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Jerk-limited, smooth speed profiles avoid harsh braking and wasted energy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 natural fit for electric autonomous vehicles and low-emission mobility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8275319" y="4626864"/>
            <a:ext cx="3657599" cy="1591056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0" name="Picture 17449" descr="MdLightbulb_D9541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5047" y="4718304"/>
            <a:ext cx="329184" cy="329184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8778240" y="4700016"/>
            <a:ext cx="3063239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9541E"/>
                </a:solidFill>
                <a:latin typeface="Calibri"/>
                <a:ea typeface="Calibri"/>
                <a:cs typeface="Calibri"/>
              </a:rPr>
              <a:t>Technological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8385047" y="5102352"/>
            <a:ext cx="3438144" cy="1060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Benchmark scenarios and metrics for unstructured roads</a:t>
            </a:r>
          </a:p>
          <a:p>
            <a:pPr algn="l" marL="146304" indent="-146304"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Stateflow chart keeps every decision explainable to judges and regulators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09728"/>
            <a:ext cx="8001000" cy="896112"/>
          </a:xfrm>
        </p:spPr>
        <p:txBody>
          <a:bodyPr anchor="ctr"/>
          <a:lstStyle/>
          <a:p>
            <a:pPr eaLnBrk="1" hangingPunct="1" algn="ctr"/>
            <a:r>
              <a:rPr sz="3600" b="1" i="0">
                <a:solidFill>
                  <a:srgbClr val="1565C0"/>
                </a:solidFill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t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7432"/>
            <a:ext cx="1014984" cy="1014984"/>
          </a:xfrm>
          <a:prstGeom prst="rect">
            <a:avLst/>
          </a:prstGeom>
        </p:spPr>
      </p:pic>
      <p:cxnSp>
        <p:nvCxnSpPr>
          <p:cNvPr id="17411" name="Connector 17410"/>
          <p:cNvCxnSpPr/>
          <p:nvPr/>
        </p:nvCxnSpPr>
        <p:spPr>
          <a:xfrm>
            <a:off x="182880" y="1097280"/>
            <a:ext cx="11823192" cy="0"/>
          </a:xfrm>
          <a:prstGeom prst="line">
            <a:avLst/>
          </a:prstGeom>
          <a:ln w="15875">
            <a:solidFill>
              <a:srgbClr val="40404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274320" y="116128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Research Insights That Shaped the Design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274320" y="1536192"/>
            <a:ext cx="3314700" cy="777240"/>
          </a:xfrm>
          <a:prstGeom prst="rect">
            <a:avLst/>
          </a:prstGeom>
          <a:solidFill>
            <a:srgbClr val="FFF6DA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329184" y="1554480"/>
            <a:ext cx="3204972" cy="7406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Lanes are the wrong prior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IDD shows Indian scenes break lane-centric assumptions, so we plan in a free-space corridor [3].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726180" y="1536192"/>
            <a:ext cx="3314700" cy="777240"/>
          </a:xfrm>
          <a:prstGeom prst="rect">
            <a:avLst/>
          </a:prstGeom>
          <a:solidFill>
            <a:srgbClr val="E6E8FA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3781044" y="1554480"/>
            <a:ext cx="3204972" cy="7406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Keep uncertainty visible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Multi-hypothesis prediction feeds a risk field instead of collapsing to one guess.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274320" y="2404872"/>
            <a:ext cx="3314700" cy="777240"/>
          </a:xfrm>
          <a:prstGeom prst="rect">
            <a:avLst/>
          </a:prstGeom>
          <a:solidFill>
            <a:srgbClr val="E6F2E6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29184" y="2423160"/>
            <a:ext cx="3204972" cy="7406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Frenet lattices give comfort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Jerk-optimal quintic/quartic trajectories are smooth by construction [1].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3726180" y="2404872"/>
            <a:ext cx="3314700" cy="777240"/>
          </a:xfrm>
          <a:prstGeom prst="rect">
            <a:avLst/>
          </a:prstGeom>
          <a:solidFill>
            <a:srgbClr val="FBE4E4"/>
          </a:solidFill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3781044" y="2423160"/>
            <a:ext cx="3204972" cy="7406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Score safety on ground truth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Clearance measured from our own tracks would be circular, so we use true positions.</a:t>
            </a:r>
          </a:p>
        </p:txBody>
      </p:sp>
      <p:pic>
        <p:nvPicPr>
          <p:cNvPr id="17421" name="Picture 17420" descr="MdMenuBook_1565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337560"/>
            <a:ext cx="292608" cy="292608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621792" y="3310128"/>
            <a:ext cx="64190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274320" y="3675887"/>
            <a:ext cx="6766560" cy="2542032"/>
          </a:xfrm>
          <a:prstGeom prst="rect">
            <a:avLst/>
          </a:prstGeom>
          <a:noFill/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347472" y="3730752"/>
            <a:ext cx="6629400" cy="2450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9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[1] </a:t>
            </a: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M. Werling, J. Ziegler, S. Kammel, S. Thrun, “Optimal trajectory generation for dynamic street scenarios in a Frenét frame,” IEEE ICRA, 2010.</a:t>
            </a:r>
          </a:p>
          <a:p>
            <a:pPr algn="l">
              <a:spcAft>
                <a:spcPts val="250"/>
              </a:spcAft>
            </a:pPr>
            <a:r>
              <a:rPr sz="9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[2] </a:t>
            </a: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D. Dolgov, S. Thrun, M. Montemerlo, J. Diebel, “Path planning for autonomous vehicles in unknown semi-structured environments,” IJRR, vol. 29, no. 5, 2010.</a:t>
            </a:r>
          </a:p>
          <a:p>
            <a:pPr algn="l">
              <a:spcAft>
                <a:spcPts val="250"/>
              </a:spcAft>
            </a:pPr>
            <a:r>
              <a:rPr sz="9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[3] </a:t>
            </a: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G. Varma, A. Subramanian, A. Namboodiri, M. Chandraker, C. V. Jawahar, “IDD: A dataset for exploring problems of autonomous navigation in unconstrained environments,” IEEE WACV, 2019.</a:t>
            </a:r>
          </a:p>
          <a:p>
            <a:pPr algn="l">
              <a:spcAft>
                <a:spcPts val="250"/>
              </a:spcAft>
            </a:pPr>
            <a:r>
              <a:rPr sz="9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[4] </a:t>
            </a: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R. C. Coulter, “Implementation of the pure pursuit path tracking algorithm,” CMU-RI-TR-92-01, Carnegie Mellon University, 1992.</a:t>
            </a:r>
          </a:p>
          <a:p>
            <a:pPr algn="l">
              <a:spcAft>
                <a:spcPts val="250"/>
              </a:spcAft>
            </a:pPr>
            <a:r>
              <a:rPr sz="9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[5] </a:t>
            </a: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H. W. Kuhn, “The Hungarian method for the assignment problem,” Naval Research Logistics Quarterly, vol. 2, 1955.</a:t>
            </a:r>
          </a:p>
          <a:p>
            <a:pPr algn="l">
              <a:spcAft>
                <a:spcPts val="250"/>
              </a:spcAft>
            </a:pPr>
            <a:r>
              <a:rPr sz="9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[6] </a:t>
            </a: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S. Thrun, W. Burgard, D. Fox, Probabilistic Robotics, MIT Press, 2005.</a:t>
            </a:r>
          </a:p>
          <a:p>
            <a:pPr algn="l">
              <a:spcAft>
                <a:spcPts val="250"/>
              </a:spcAft>
            </a:pPr>
            <a:r>
              <a:rPr sz="9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[7] </a:t>
            </a: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Ministry of Road Transport &amp; Highways, “Road Accidents in India 2022,” Government of India, 2023.</a:t>
            </a:r>
          </a:p>
          <a:p>
            <a:pPr algn="l">
              <a:spcAft>
                <a:spcPts val="250"/>
              </a:spcAft>
            </a:pPr>
            <a:r>
              <a:rPr sz="950" b="1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[8] </a:t>
            </a:r>
            <a:r>
              <a:rPr sz="950" b="0" i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ASAM e.V., “ASAM OpenDRIVE” road-network standard; MathWorks RoadRunner &amp; Automated Driving Toolbox documentation.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7269480" y="116128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Prototype Evidence</a:t>
            </a:r>
          </a:p>
        </p:txBody>
      </p:sp>
      <p:pic>
        <p:nvPicPr>
          <p:cNvPr id="17426" name="Picture 17425" descr="village_road_metr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7863" y="1536192"/>
            <a:ext cx="4066673" cy="2971800"/>
          </a:xfrm>
          <a:prstGeom prst="rect">
            <a:avLst/>
          </a:prstGeom>
        </p:spPr>
      </p:pic>
      <p:sp>
        <p:nvSpPr>
          <p:cNvPr id="17427" name="Rectangle 17426"/>
          <p:cNvSpPr/>
          <p:nvPr/>
        </p:nvSpPr>
        <p:spPr>
          <a:xfrm>
            <a:off x="7567863" y="1536192"/>
            <a:ext cx="4066673" cy="2971800"/>
          </a:xfrm>
          <a:prstGeom prst="rect">
            <a:avLst/>
          </a:prstGeom>
          <a:noFill/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8" name="Picture 17427" descr="MdLink_1565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4645152"/>
            <a:ext cx="292608" cy="292608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7616952" y="4617720"/>
            <a:ext cx="43159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Project Links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7269480" y="4983480"/>
            <a:ext cx="4663440" cy="1234440"/>
          </a:xfrm>
          <a:prstGeom prst="rect">
            <a:avLst/>
          </a:prstGeom>
          <a:noFill/>
          <a:ln w="12700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7360920" y="5029200"/>
            <a:ext cx="4526280" cy="11430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 u="sng">
                <a:solidFill>
                  <a:srgbClr val="1565C0"/>
                </a:solidFill>
                <a:latin typeface="Calibri"/>
                <a:hlinkClick r:id="rId8"/>
                <a:ea typeface="Calibri"/>
                <a:cs typeface="Calibri"/>
              </a:rPr>
              <a:t>1) Source Code Repository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55555"/>
                </a:solidFill>
                <a:latin typeface="Calibri"/>
                <a:hlinkClick r:id="rId8"/>
                <a:ea typeface="Calibri"/>
                <a:cs typeface="Calibri"/>
              </a:rPr>
              <a:t>github.com/FX-at-Dev/Adaptive-Lane-Free-Path-Planning---Collision-Avoidance-for-Indian-Roads</a:t>
            </a:r>
          </a:p>
          <a:p>
            <a:pPr algn="l">
              <a:spcAft>
                <a:spcPts val="500"/>
              </a:spcAft>
            </a:pPr>
            <a:r>
              <a:rPr sz="1200" b="1" i="0" u="sng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2) Demo Video: All 5 Scenarios</a:t>
            </a:r>
          </a:p>
          <a:p>
            <a:pPr algn="l">
              <a:spcAft>
                <a:spcPts val="0"/>
              </a:spcAft>
            </a:pPr>
            <a:r>
              <a:rPr sz="1200" b="1" i="0" u="sng">
                <a:solidFill>
                  <a:srgbClr val="1565C0"/>
                </a:solidFill>
                <a:latin typeface="Calibri"/>
                <a:ea typeface="Calibri"/>
                <a:cs typeface="Calibri"/>
              </a:rPr>
              <a:t>3) Metrics &amp; Run Data (JSON)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